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  <p:sldId id="271" r:id="rId9"/>
    <p:sldId id="264" r:id="rId10"/>
    <p:sldId id="265" r:id="rId11"/>
    <p:sldId id="269" r:id="rId12"/>
    <p:sldId id="266" r:id="rId13"/>
    <p:sldId id="272" r:id="rId14"/>
    <p:sldId id="273" r:id="rId15"/>
    <p:sldId id="274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3CE63-AADB-48B7-93C0-54888B251B16}" v="3" dt="2026-09-07T11:16:54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llamkonda Naga pavan kumar" userId="a0f458ddd32edd19" providerId="LiveId" clId="{27E7A5E7-8840-4DE7-AB6B-DB8FFE40B1B5}"/>
    <pc:docChg chg="addSld modSld">
      <pc:chgData name="Bellamkonda Naga pavan kumar" userId="a0f458ddd32edd19" providerId="LiveId" clId="{27E7A5E7-8840-4DE7-AB6B-DB8FFE40B1B5}" dt="2026-09-07T11:22:07.867" v="85" actId="14100"/>
      <pc:docMkLst>
        <pc:docMk/>
      </pc:docMkLst>
      <pc:sldChg chg="modSp mod">
        <pc:chgData name="Bellamkonda Naga pavan kumar" userId="a0f458ddd32edd19" providerId="LiveId" clId="{27E7A5E7-8840-4DE7-AB6B-DB8FFE40B1B5}" dt="2026-09-07T10:57:02.399" v="4" actId="20577"/>
        <pc:sldMkLst>
          <pc:docMk/>
          <pc:sldMk cId="1267507976" sldId="256"/>
        </pc:sldMkLst>
        <pc:spChg chg="mod">
          <ac:chgData name="Bellamkonda Naga pavan kumar" userId="a0f458ddd32edd19" providerId="LiveId" clId="{27E7A5E7-8840-4DE7-AB6B-DB8FFE40B1B5}" dt="2026-09-07T10:57:02.399" v="4" actId="20577"/>
          <ac:spMkLst>
            <pc:docMk/>
            <pc:sldMk cId="1267507976" sldId="256"/>
            <ac:spMk id="3" creationId="{77A533FE-D0EC-23DD-6FAE-A2432AEE4F63}"/>
          </ac:spMkLst>
        </pc:spChg>
      </pc:sldChg>
      <pc:sldChg chg="addSp">
        <pc:chgData name="Bellamkonda Naga pavan kumar" userId="a0f458ddd32edd19" providerId="LiveId" clId="{27E7A5E7-8840-4DE7-AB6B-DB8FFE40B1B5}" dt="2026-09-07T10:32:29.827" v="0"/>
        <pc:sldMkLst>
          <pc:docMk/>
          <pc:sldMk cId="779421589" sldId="262"/>
        </pc:sldMkLst>
        <pc:picChg chg="add">
          <ac:chgData name="Bellamkonda Naga pavan kumar" userId="a0f458ddd32edd19" providerId="LiveId" clId="{27E7A5E7-8840-4DE7-AB6B-DB8FFE40B1B5}" dt="2026-09-07T10:32:29.827" v="0"/>
          <ac:picMkLst>
            <pc:docMk/>
            <pc:sldMk cId="779421589" sldId="262"/>
            <ac:picMk id="3" creationId="{7E690931-EFBC-0EE2-C34A-469406D37FE5}"/>
          </ac:picMkLst>
        </pc:picChg>
      </pc:sldChg>
      <pc:sldChg chg="modSp mod">
        <pc:chgData name="Bellamkonda Naga pavan kumar" userId="a0f458ddd32edd19" providerId="LiveId" clId="{27E7A5E7-8840-4DE7-AB6B-DB8FFE40B1B5}" dt="2026-09-07T11:06:02.389" v="21" actId="20577"/>
        <pc:sldMkLst>
          <pc:docMk/>
          <pc:sldMk cId="742644070" sldId="273"/>
        </pc:sldMkLst>
        <pc:spChg chg="mod">
          <ac:chgData name="Bellamkonda Naga pavan kumar" userId="a0f458ddd32edd19" providerId="LiveId" clId="{27E7A5E7-8840-4DE7-AB6B-DB8FFE40B1B5}" dt="2026-09-07T11:06:02.389" v="21" actId="20577"/>
          <ac:spMkLst>
            <pc:docMk/>
            <pc:sldMk cId="742644070" sldId="273"/>
            <ac:spMk id="3" creationId="{9D74EA49-AA8A-F716-CC1B-42F9035F99F5}"/>
          </ac:spMkLst>
        </pc:spChg>
      </pc:sldChg>
      <pc:sldChg chg="addSp modSp new mod">
        <pc:chgData name="Bellamkonda Naga pavan kumar" userId="a0f458ddd32edd19" providerId="LiveId" clId="{27E7A5E7-8840-4DE7-AB6B-DB8FFE40B1B5}" dt="2026-09-07T11:22:07.867" v="85" actId="14100"/>
        <pc:sldMkLst>
          <pc:docMk/>
          <pc:sldMk cId="3820290914" sldId="274"/>
        </pc:sldMkLst>
        <pc:spChg chg="add mod">
          <ac:chgData name="Bellamkonda Naga pavan kumar" userId="a0f458ddd32edd19" providerId="LiveId" clId="{27E7A5E7-8840-4DE7-AB6B-DB8FFE40B1B5}" dt="2026-09-07T11:21:16.667" v="83" actId="14100"/>
          <ac:spMkLst>
            <pc:docMk/>
            <pc:sldMk cId="3820290914" sldId="274"/>
            <ac:spMk id="2" creationId="{88CF650B-0B8B-0334-F463-CE7F663EE839}"/>
          </ac:spMkLst>
        </pc:spChg>
        <pc:picChg chg="add mod">
          <ac:chgData name="Bellamkonda Naga pavan kumar" userId="a0f458ddd32edd19" providerId="LiveId" clId="{27E7A5E7-8840-4DE7-AB6B-DB8FFE40B1B5}" dt="2026-09-07T11:22:07.867" v="85" actId="14100"/>
          <ac:picMkLst>
            <pc:docMk/>
            <pc:sldMk cId="3820290914" sldId="274"/>
            <ac:picMk id="4" creationId="{4948C507-8984-3A7A-69AC-51D9B5563CE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2628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5834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594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668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3642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0659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1482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276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3405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3229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581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97557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667289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1393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1615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103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4F1D01-75FB-4367-ADC6-5AF689A920AE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2559ACF-5EA6-4A4C-885C-EA2255FB16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3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4F868-A043-14C2-F8B8-464FFB87A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3499" y="609600"/>
            <a:ext cx="8151056" cy="1170039"/>
          </a:xfrm>
        </p:spPr>
        <p:txBody>
          <a:bodyPr/>
          <a:lstStyle/>
          <a:p>
            <a:pPr algn="l"/>
            <a:r>
              <a:rPr lang="en-IN" sz="4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Credit Risk Assessment Pipeline:</a:t>
            </a:r>
            <a:br>
              <a:rPr lang="en-IN" sz="42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Real-Time Credit Data Processing &amp; Risk Analytics using Azure &amp; Databricks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A533FE-D0EC-23DD-6FAE-A2432AEE4F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35297" y="2871020"/>
            <a:ext cx="3674533" cy="3182672"/>
          </a:xfrm>
        </p:spPr>
        <p:txBody>
          <a:bodyPr>
            <a:noAutofit/>
          </a:bodyPr>
          <a:lstStyle/>
          <a:p>
            <a:pPr algn="l"/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B.Kumara Swamy</a:t>
            </a:r>
          </a:p>
          <a:p>
            <a:pPr algn="l"/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Astha Kesharwani </a:t>
            </a:r>
          </a:p>
          <a:p>
            <a:pPr algn="l"/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D.Vaishnavi</a:t>
            </a:r>
          </a:p>
          <a:p>
            <a:pPr algn="l"/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K.Rajkumar</a:t>
            </a:r>
          </a:p>
          <a:p>
            <a:pPr algn="l"/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P.Bhanu Bharath</a:t>
            </a:r>
          </a:p>
          <a:p>
            <a:pPr algn="l"/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B.Naga Pavan Kumar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872898-821D-2401-53CD-A7BD63956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245" y="2034429"/>
            <a:ext cx="6890052" cy="461387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67507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A7F9-08BA-0C53-E471-8600A767F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978568"/>
            <a:ext cx="8596668" cy="1320800"/>
          </a:xfrm>
        </p:spPr>
        <p:txBody>
          <a:bodyPr>
            <a:normAutofit/>
          </a:bodyPr>
          <a:lstStyle/>
          <a:p>
            <a:r>
              <a:rPr lang="en-IN" sz="4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Overview &amp;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F654E-D37A-62FA-B25A-C3390AD3F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87795"/>
            <a:ext cx="8596668" cy="4153568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SzPct val="84000"/>
              <a:buFont typeface="Arial" panose="020B0604020202020204" pitchFamily="34" charset="0"/>
              <a:buChar char="•"/>
            </a:pPr>
            <a:r>
              <a:rPr lang="en-IN" sz="2000" dirty="0"/>
              <a:t>Built a </a:t>
            </a:r>
            <a:r>
              <a:rPr lang="en-IN" sz="2000" b="1" dirty="0"/>
              <a:t>cloud-based ETL pipeline</a:t>
            </a:r>
            <a:r>
              <a:rPr lang="en-IN" sz="2000" dirty="0"/>
              <a:t> to process credit risk data from multiple sources.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4000"/>
              <a:buFont typeface="Arial" panose="020B0604020202020204" pitchFamily="34" charset="0"/>
              <a:buChar char="•"/>
            </a:pPr>
            <a:r>
              <a:rPr lang="en-IN" sz="2000" dirty="0"/>
              <a:t>Implemented </a:t>
            </a:r>
            <a:r>
              <a:rPr lang="en-IN" sz="2000" b="1" dirty="0"/>
              <a:t>Medallion Architecture</a:t>
            </a:r>
            <a:r>
              <a:rPr lang="en-IN" sz="2000" dirty="0"/>
              <a:t> using </a:t>
            </a:r>
            <a:r>
              <a:rPr lang="en-IN" sz="2000" b="1" dirty="0"/>
              <a:t>ADLS Gen2 and Databricks</a:t>
            </a:r>
            <a:r>
              <a:rPr lang="en-IN" sz="2000" dirty="0"/>
              <a:t> — Bronze → Silver → Gold.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4000"/>
              <a:buFont typeface="Arial" panose="020B0604020202020204" pitchFamily="34" charset="0"/>
              <a:buChar char="•"/>
            </a:pPr>
            <a:r>
              <a:rPr lang="en-IN" sz="2000" dirty="0"/>
              <a:t>Used </a:t>
            </a:r>
            <a:r>
              <a:rPr lang="en-IN" sz="2000" b="1" dirty="0"/>
              <a:t>Azure Data Factory and PySpark/DBT</a:t>
            </a:r>
            <a:r>
              <a:rPr lang="en-IN" sz="2000" dirty="0"/>
              <a:t> for data ingestion, cleansing, and transformation.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4000"/>
              <a:buFont typeface="Arial" panose="020B0604020202020204" pitchFamily="34" charset="0"/>
              <a:buChar char="•"/>
            </a:pPr>
            <a:r>
              <a:rPr lang="en-IN" sz="2000" dirty="0"/>
              <a:t>Integrated </a:t>
            </a:r>
            <a:r>
              <a:rPr lang="en-IN" sz="2000" b="1" dirty="0"/>
              <a:t>applicant, credit history, loan, and economic datasets</a:t>
            </a:r>
            <a:r>
              <a:rPr lang="en-IN" sz="2000" dirty="0"/>
              <a:t> into a unified data platform.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4000"/>
              <a:buFont typeface="Arial" panose="020B0604020202020204" pitchFamily="34" charset="0"/>
              <a:buChar char="•"/>
            </a:pPr>
            <a:r>
              <a:rPr lang="en-IN" sz="2000" dirty="0"/>
              <a:t>Prepared </a:t>
            </a:r>
            <a:r>
              <a:rPr lang="en-IN" sz="2000" b="1" dirty="0"/>
              <a:t>analytics-ready credit risk data</a:t>
            </a:r>
            <a:r>
              <a:rPr lang="en-IN" sz="2000" dirty="0"/>
              <a:t> to support </a:t>
            </a:r>
            <a:r>
              <a:rPr lang="en-IN" sz="2000" b="1" dirty="0"/>
              <a:t>loan assessment, reporting, and dashboards</a:t>
            </a:r>
            <a:r>
              <a:rPr lang="en-IN" sz="2000" dirty="0"/>
              <a:t>. 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4000"/>
              <a:buFont typeface="Arial" panose="020B0604020202020204" pitchFamily="34" charset="0"/>
              <a:buChar char="•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853192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F5F91-0DCD-8C77-0186-51101393D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090863"/>
            <a:ext cx="8596668" cy="1320800"/>
          </a:xfrm>
        </p:spPr>
        <p:txBody>
          <a:bodyPr>
            <a:normAutofit/>
          </a:bodyPr>
          <a:lstStyle/>
          <a:p>
            <a:r>
              <a:rPr lang="en-IN" sz="4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C7C21-7F7B-75A8-9A22-F348D94A0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7889150" cy="3880773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Managing </a:t>
            </a:r>
            <a:r>
              <a:rPr lang="en-IN" sz="2000" b="1" dirty="0"/>
              <a:t>large volumes of credit and loan data</a:t>
            </a:r>
            <a:r>
              <a:rPr lang="en-IN" sz="2000" dirty="0"/>
              <a:t> from multiple source datasets.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Handling </a:t>
            </a:r>
            <a:r>
              <a:rPr lang="en-IN" sz="2000" b="1" dirty="0"/>
              <a:t>missing, duplicate, and inconsistent data</a:t>
            </a:r>
            <a:r>
              <a:rPr lang="en-IN" sz="2000" dirty="0"/>
              <a:t> to maintain reliable credit information.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Integrating </a:t>
            </a:r>
            <a:r>
              <a:rPr lang="en-IN" sz="2000" b="1" dirty="0"/>
              <a:t>applicant, credit history, loan, and economic data</a:t>
            </a:r>
            <a:r>
              <a:rPr lang="en-IN" sz="2000" dirty="0"/>
              <a:t> into one unified pipeline.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Identifying </a:t>
            </a:r>
            <a:r>
              <a:rPr lang="en-IN" sz="2000" b="1" dirty="0"/>
              <a:t>high-risk applicants</a:t>
            </a:r>
            <a:r>
              <a:rPr lang="en-IN" sz="2000" dirty="0"/>
              <a:t> efficiently using accurate and standardized credit data.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Providing </a:t>
            </a:r>
            <a:r>
              <a:rPr lang="en-IN" sz="2000" b="1" dirty="0"/>
              <a:t>trusted risk insights and reports</a:t>
            </a:r>
            <a:r>
              <a:rPr lang="en-IN" sz="2000" dirty="0"/>
              <a:t> to support faster and better loan approval decisions.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1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E717F-DB9F-6A01-66C2-5F0C82B5C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026695"/>
            <a:ext cx="8596668" cy="1320800"/>
          </a:xfrm>
        </p:spPr>
        <p:txBody>
          <a:bodyPr>
            <a:normAutofit/>
          </a:bodyPr>
          <a:lstStyle/>
          <a:p>
            <a:r>
              <a:rPr lang="en-IN" sz="4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6CEB5-922D-189E-0EC1-155CFB6CD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46787"/>
            <a:ext cx="8596668" cy="4094575"/>
          </a:xfrm>
        </p:spPr>
        <p:txBody>
          <a:bodyPr>
            <a:normAutofit lnSpcReduction="10000"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ADLS Gen2</a:t>
            </a:r>
            <a:r>
              <a:rPr lang="en-IN" sz="2000" dirty="0"/>
              <a:t> — Data Lake Storage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ADF</a:t>
            </a:r>
            <a:r>
              <a:rPr lang="en-IN" sz="2000" dirty="0"/>
              <a:t> — Data Ingestion &amp; ETL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Databricks</a:t>
            </a:r>
            <a:r>
              <a:rPr lang="en-IN" sz="2000" dirty="0"/>
              <a:t> — Data Processing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PySpark</a:t>
            </a:r>
            <a:r>
              <a:rPr lang="en-IN" sz="2000" dirty="0"/>
              <a:t> — Data Transformation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Delta Lake</a:t>
            </a:r>
            <a:r>
              <a:rPr lang="en-IN" sz="2000" dirty="0"/>
              <a:t> — Data Storage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DBT</a:t>
            </a:r>
            <a:r>
              <a:rPr lang="en-IN" sz="2000" dirty="0"/>
              <a:t> — Data Transformation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Airflow</a:t>
            </a:r>
            <a:r>
              <a:rPr lang="en-IN" sz="2000" dirty="0"/>
              <a:t> — Workflow Orchestration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Pytest</a:t>
            </a:r>
            <a:r>
              <a:rPr lang="en-IN" sz="2000" dirty="0"/>
              <a:t> — Data Quality Testing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Databricks SQL</a:t>
            </a:r>
            <a:r>
              <a:rPr lang="en-IN" sz="2000" dirty="0"/>
              <a:t> — Reporting &amp; Dashboards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b="1" dirty="0"/>
              <a:t>Slack</a:t>
            </a:r>
            <a:r>
              <a:rPr lang="en-IN" sz="2000" dirty="0"/>
              <a:t> — Pipeline Alerts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216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CF980-DBF9-ABEB-1C3D-70D28DA05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4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</a:t>
            </a:r>
            <a:r>
              <a:rPr lang="en-IN" sz="4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IN" sz="4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for building Pipelines</a:t>
            </a:r>
            <a:endParaRPr lang="en-IN" sz="4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7383D-4103-01EF-7AEE-70DD38B7F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7004" y="2947163"/>
            <a:ext cx="7059897" cy="1584643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SzPct val="90000"/>
              <a:buFont typeface="Arial" panose="020B0604020202020204" pitchFamily="34" charset="0"/>
              <a:buChar char="•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Level Design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90000"/>
              <a:buFont typeface="Arial" panose="020B0604020202020204" pitchFamily="34" charset="0"/>
              <a:buChar char="•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Low-Level Design</a:t>
            </a:r>
          </a:p>
          <a:p>
            <a:pPr marL="0" indent="0">
              <a:buClr>
                <a:schemeClr val="tx1">
                  <a:lumMod val="95000"/>
                  <a:lumOff val="5000"/>
                </a:schemeClr>
              </a:buClr>
              <a:buSzPct val="90000"/>
              <a:buNone/>
            </a:pPr>
            <a:endParaRPr lang="en-IN" sz="22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9533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CEF43-FB11-9CFC-A27C-2FA9BAD2B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094" y="508757"/>
            <a:ext cx="8596668" cy="1320800"/>
          </a:xfrm>
        </p:spPr>
        <p:txBody>
          <a:bodyPr/>
          <a:lstStyle/>
          <a:p>
            <a:r>
              <a:rPr lang="en-IN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Lakehouse Architecture </a:t>
            </a: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(High - Level Design)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3F2B33-18D7-F24D-2E40-BAFFFF623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94" y="1229032"/>
            <a:ext cx="712838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23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EF22C84-9797-8B5D-65F0-B8191C878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835" y="157316"/>
            <a:ext cx="8596668" cy="1511827"/>
          </a:xfrm>
        </p:spPr>
        <p:txBody>
          <a:bodyPr/>
          <a:lstStyle/>
          <a:p>
            <a:r>
              <a:rPr lang="en-IN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Low-Level Design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690931-EFBC-0EE2-C34A-469406D37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61" y="776749"/>
            <a:ext cx="8190271" cy="571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421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370DA-B1D7-5FAC-CF73-C57BD1907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466" y="432619"/>
            <a:ext cx="8554064" cy="943897"/>
          </a:xfrm>
        </p:spPr>
        <p:txBody>
          <a:bodyPr/>
          <a:lstStyle/>
          <a:p>
            <a:r>
              <a:rPr lang="en-IN" b="1" dirty="0">
                <a:solidFill>
                  <a:schemeClr val="tx1"/>
                </a:solidFill>
              </a:rPr>
              <a:t>Credit Risk Analytics(Star Schema)</a:t>
            </a:r>
          </a:p>
        </p:txBody>
      </p:sp>
      <p:pic>
        <p:nvPicPr>
          <p:cNvPr id="3" name="Picture 2" descr="data_model_diagram.png">
            <a:extLst>
              <a:ext uri="{FF2B5EF4-FFF2-40B4-BE49-F238E27FC236}">
                <a16:creationId xmlns:a16="http://schemas.microsoft.com/office/drawing/2014/main" id="{53519CB0-18E4-941F-1387-C6B3FC0CD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" y="1194619"/>
            <a:ext cx="7742904" cy="516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28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EF77B-B041-99A5-5FF2-4EDD49D6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19432"/>
            <a:ext cx="8596668" cy="924233"/>
          </a:xfrm>
        </p:spPr>
        <p:txBody>
          <a:bodyPr/>
          <a:lstStyle/>
          <a:p>
            <a:r>
              <a:rPr lang="en-IN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&amp; Error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C191B-420B-6E0C-49D5-AE7FED8B3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43665"/>
            <a:ext cx="8596668" cy="4497697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Performed </a:t>
            </a:r>
            <a:r>
              <a:rPr lang="en-IN" sz="2000" b="1" dirty="0"/>
              <a:t>schema validation</a:t>
            </a:r>
            <a:r>
              <a:rPr lang="en-IN" sz="2000" dirty="0"/>
              <a:t> to ensure correct data types and table structure</a:t>
            </a:r>
            <a:r>
              <a:rPr lang="en-IN" sz="2400" dirty="0"/>
              <a:t>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Applied </a:t>
            </a:r>
            <a:r>
              <a:rPr lang="en-IN" sz="2000" b="1" dirty="0"/>
              <a:t>null checks</a:t>
            </a:r>
            <a:r>
              <a:rPr lang="en-IN" sz="2000" dirty="0"/>
              <a:t> and </a:t>
            </a:r>
            <a:r>
              <a:rPr lang="en-IN" sz="2000" b="1" dirty="0"/>
              <a:t>data completeness validation</a:t>
            </a:r>
            <a:r>
              <a:rPr lang="en-IN" sz="2000" dirty="0"/>
              <a:t> across credit datasets.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Implemented </a:t>
            </a:r>
            <a:r>
              <a:rPr lang="en-IN" sz="2000" b="1" dirty="0"/>
              <a:t>duplicate detection and removal</a:t>
            </a:r>
            <a:r>
              <a:rPr lang="en-IN" sz="2000" dirty="0"/>
              <a:t> for applicant and loan records.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Applied </a:t>
            </a:r>
            <a:r>
              <a:rPr lang="en-IN" sz="2000" b="1" dirty="0"/>
              <a:t>data standardization</a:t>
            </a:r>
            <a:r>
              <a:rPr lang="en-IN" sz="2000" dirty="0"/>
              <a:t> for inconsistent values, formats, and categories.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Implemented </a:t>
            </a:r>
            <a:r>
              <a:rPr lang="en-IN" sz="2000" b="1" dirty="0"/>
              <a:t>error logging and pipeline monitoring </a:t>
            </a:r>
            <a:r>
              <a:rPr lang="en-IN" sz="2000" dirty="0"/>
              <a:t>for failed Databricks/DBT tasks.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Validated </a:t>
            </a:r>
            <a:r>
              <a:rPr lang="en-IN" sz="2000" b="1" dirty="0"/>
              <a:t>Silver and Gold outputs</a:t>
            </a:r>
            <a:r>
              <a:rPr lang="en-IN" sz="2000" dirty="0"/>
              <a:t> to ensure accurate and reliable credit risk data. 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793673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953C5-F1D9-1BEE-5ADA-93C84F8A2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802" y="403124"/>
            <a:ext cx="8596668" cy="865238"/>
          </a:xfrm>
        </p:spPr>
        <p:txBody>
          <a:bodyPr/>
          <a:lstStyle/>
          <a:p>
            <a:r>
              <a:rPr lang="en-IN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 Orchestration(Airflow DAG)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FDBA5-48A7-4650-0D5C-80D025674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802" y="1170040"/>
            <a:ext cx="8677682" cy="4278472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Designed an </a:t>
            </a:r>
            <a:r>
              <a:rPr lang="en-IN" sz="2000" b="1" dirty="0"/>
              <a:t>Apache Airflow DAG</a:t>
            </a:r>
            <a:r>
              <a:rPr lang="en-IN" sz="2000" dirty="0"/>
              <a:t> to orchestrate the Credit Risk ETL pipeline.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Triggered </a:t>
            </a:r>
            <a:r>
              <a:rPr lang="en-IN" sz="2000" b="1" dirty="0"/>
              <a:t>ADF and Databricks pipelines</a:t>
            </a:r>
            <a:r>
              <a:rPr lang="en-IN" sz="2000" dirty="0"/>
              <a:t> for sequential data processing.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Managed </a:t>
            </a:r>
            <a:r>
              <a:rPr lang="en-IN" sz="2000" b="1" dirty="0"/>
              <a:t>task dependencies</a:t>
            </a:r>
            <a:r>
              <a:rPr lang="en-IN" sz="2000" dirty="0"/>
              <a:t> to execute Bronze → Silver → Gold in the correct order.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Implemented </a:t>
            </a:r>
            <a:r>
              <a:rPr lang="en-IN" sz="2000" b="1" dirty="0"/>
              <a:t>failure handling, retries, and monitoring</a:t>
            </a:r>
            <a:r>
              <a:rPr lang="en-IN" sz="2000" dirty="0"/>
              <a:t> using Airflow logs. 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r>
              <a:rPr lang="en-IN" sz="2000" dirty="0"/>
              <a:t>Monitored </a:t>
            </a:r>
            <a:r>
              <a:rPr lang="en-IN" sz="2000" b="1" dirty="0"/>
              <a:t>pipeline execution and task status</a:t>
            </a:r>
            <a:r>
              <a:rPr lang="en-IN" sz="2000" dirty="0"/>
              <a:t> to ensure successful completion.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85000"/>
              <a:buFont typeface="Arial" panose="020B0604020202020204" pitchFamily="34" charset="0"/>
              <a:buChar char="•"/>
            </a:pPr>
            <a:endParaRPr lang="en-IN" sz="2000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6C4699AB-4B4B-1AF9-A5EF-024428D142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05590B9-8E68-563A-83E1-61A52D3DE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87" y="4807973"/>
            <a:ext cx="8478875" cy="190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897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00FC2-5F11-1B03-4C6D-72EEEF9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39097"/>
            <a:ext cx="8596668" cy="757084"/>
          </a:xfrm>
        </p:spPr>
        <p:txBody>
          <a:bodyPr>
            <a:normAutofit/>
          </a:bodyPr>
          <a:lstStyle/>
          <a:p>
            <a:r>
              <a:rPr lang="en-IN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Alerts &amp; Monitoring (Slack Integration)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CB58F-CB56-2DD8-6D92-F1F9C778E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0142"/>
            <a:ext cx="8596668" cy="4291220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Created a </a:t>
            </a:r>
            <a:r>
              <a:rPr lang="en-IN" sz="2000" b="1" dirty="0"/>
              <a:t>Slack channel</a:t>
            </a:r>
            <a:r>
              <a:rPr lang="en-IN" sz="2000" dirty="0"/>
              <a:t> for Credit Risk Pipeline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Configured </a:t>
            </a:r>
            <a:r>
              <a:rPr lang="en-IN" sz="2000" b="1" dirty="0"/>
              <a:t>Slack webhook integration</a:t>
            </a:r>
            <a:r>
              <a:rPr lang="en-IN" sz="2000" dirty="0"/>
              <a:t> for pipeline notifications.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Enabled </a:t>
            </a:r>
            <a:r>
              <a:rPr lang="en-IN" sz="2000" b="1" dirty="0"/>
              <a:t>Databricks Job success and failure alerts</a:t>
            </a:r>
            <a:r>
              <a:rPr lang="en-IN" sz="2000" dirty="0"/>
              <a:t>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Sent </a:t>
            </a:r>
            <a:r>
              <a:rPr lang="en-IN" sz="2000" b="1" dirty="0"/>
              <a:t>real-time notifications</a:t>
            </a:r>
            <a:r>
              <a:rPr lang="en-IN" sz="2000" dirty="0"/>
              <a:t> for pipeline execution status. 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Monitored </a:t>
            </a:r>
            <a:r>
              <a:rPr lang="en-IN" sz="2000" b="1" dirty="0"/>
              <a:t>Bronze → Silver → Gold</a:t>
            </a:r>
            <a:r>
              <a:rPr lang="en-IN" sz="2000" dirty="0"/>
              <a:t> job and task status.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Configured </a:t>
            </a:r>
            <a:r>
              <a:rPr lang="en-IN" sz="2000" b="1" dirty="0"/>
              <a:t>retry and failure notifications</a:t>
            </a:r>
            <a:r>
              <a:rPr lang="en-IN" sz="2000" dirty="0"/>
              <a:t> for failed tasks.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Tracked </a:t>
            </a:r>
            <a:r>
              <a:rPr lang="en-IN" sz="2000" b="1" dirty="0"/>
              <a:t>execution logs and alerts</a:t>
            </a:r>
            <a:r>
              <a:rPr lang="en-IN" sz="2000" dirty="0"/>
              <a:t> for faster troubleshooting.</a:t>
            </a:r>
            <a:endParaRPr lang="en-IN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424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B2659-8F54-E962-286F-B3F645C463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65618" y="258906"/>
            <a:ext cx="8596313" cy="1482816"/>
          </a:xfrm>
        </p:spPr>
        <p:txBody>
          <a:bodyPr>
            <a:normAutofit/>
          </a:bodyPr>
          <a:lstStyle/>
          <a:p>
            <a:r>
              <a:rPr lang="en-IN" sz="4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9D663F-FE58-02FD-2A7E-6825CEBF2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962" y="1113273"/>
            <a:ext cx="8507970" cy="47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23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EE46A3-DAC8-3D8B-B9E8-951BBA0DC4BE}"/>
              </a:ext>
            </a:extLst>
          </p:cNvPr>
          <p:cNvSpPr txBox="1"/>
          <p:nvPr/>
        </p:nvSpPr>
        <p:spPr>
          <a:xfrm>
            <a:off x="350651" y="265471"/>
            <a:ext cx="7760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Applicant Demographics &amp; Financial Insights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5AA2E1-74E3-AFE1-771A-257454582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50" y="1091382"/>
            <a:ext cx="8232911" cy="495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82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71375AB-6E44-B139-2D12-8C088D956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68" y="985684"/>
            <a:ext cx="8311319" cy="50408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74EA49-AA8A-F716-CC1B-42F9035F99F5}"/>
              </a:ext>
            </a:extLst>
          </p:cNvPr>
          <p:cNvSpPr txBox="1"/>
          <p:nvPr/>
        </p:nvSpPr>
        <p:spPr>
          <a:xfrm>
            <a:off x="255639" y="324464"/>
            <a:ext cx="79837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Credit Risk &amp; Intelligence</a:t>
            </a:r>
          </a:p>
        </p:txBody>
      </p:sp>
    </p:spTree>
    <p:extLst>
      <p:ext uri="{BB962C8B-B14F-4D97-AF65-F5344CB8AC3E}">
        <p14:creationId xmlns:p14="http://schemas.microsoft.com/office/powerpoint/2010/main" val="74264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F650B-0B8B-0334-F463-CE7F663EE839}"/>
              </a:ext>
            </a:extLst>
          </p:cNvPr>
          <p:cNvSpPr txBox="1"/>
          <p:nvPr/>
        </p:nvSpPr>
        <p:spPr>
          <a:xfrm>
            <a:off x="304800" y="412956"/>
            <a:ext cx="54667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Loan Portfolio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48C507-8984-3A7A-69AC-51D9B5563C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90" y="1209368"/>
            <a:ext cx="8091949" cy="490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290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FB7A5-34F2-18E0-B727-84626A33B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34297"/>
            <a:ext cx="8596668" cy="825909"/>
          </a:xfrm>
        </p:spPr>
        <p:txBody>
          <a:bodyPr>
            <a:normAutofit/>
          </a:bodyPr>
          <a:lstStyle/>
          <a:p>
            <a:r>
              <a:rPr lang="en-US" sz="4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Insights &amp; Outcomes</a:t>
            </a:r>
            <a:endParaRPr lang="en-IN" sz="4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0887D-0461-919D-E37D-342246B76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29032"/>
            <a:ext cx="8596668" cy="4380251"/>
          </a:xfrm>
        </p:spPr>
        <p:txBody>
          <a:bodyPr>
            <a:normAutofit fontScale="92500" lnSpcReduction="20000"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Enabled </a:t>
            </a:r>
            <a:r>
              <a:rPr lang="en-IN" sz="2000" b="1" dirty="0"/>
              <a:t>accurate credit risk assessment</a:t>
            </a:r>
            <a:r>
              <a:rPr lang="en-IN" sz="2000" dirty="0"/>
              <a:t> using applicant, loan, credit history, and economic data.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Categorized applicants into </a:t>
            </a:r>
            <a:r>
              <a:rPr lang="en-IN" sz="2000" b="1" dirty="0"/>
              <a:t>High, Medium, and Low risk</a:t>
            </a:r>
            <a:r>
              <a:rPr lang="en-IN" sz="2000" dirty="0"/>
              <a:t> using derived risk scoring logic.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Improved </a:t>
            </a:r>
            <a:r>
              <a:rPr lang="en-IN" sz="2000" b="1" dirty="0"/>
              <a:t>data-driven loan decisions</a:t>
            </a:r>
            <a:r>
              <a:rPr lang="en-IN" sz="2000" dirty="0"/>
              <a:t> through centralized and standardized credit data.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Reduced </a:t>
            </a:r>
            <a:r>
              <a:rPr lang="en-IN" sz="2000" b="1" dirty="0"/>
              <a:t>data inconsistencies and duplicate records</a:t>
            </a:r>
            <a:r>
              <a:rPr lang="en-IN" sz="2000" dirty="0"/>
              <a:t> through automated ETL and data-quality checks. 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Delivered </a:t>
            </a:r>
            <a:r>
              <a:rPr lang="en-IN" sz="2000" b="1" dirty="0"/>
              <a:t>actionable credit risk insights</a:t>
            </a:r>
            <a:r>
              <a:rPr lang="en-IN" sz="2000" dirty="0"/>
              <a:t> through Gold-layer metrics and Databricks dashboards.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Improved </a:t>
            </a:r>
            <a:r>
              <a:rPr lang="en-IN" sz="2000" b="1" dirty="0"/>
              <a:t>pipeline scalability and performance</a:t>
            </a:r>
            <a:r>
              <a:rPr lang="en-IN" sz="2000" dirty="0"/>
              <a:t> using ADLS Gen2, Delta Lake, and Databricks.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Arial" panose="020B0604020202020204" pitchFamily="34" charset="0"/>
              <a:buChar char="•"/>
            </a:pPr>
            <a:r>
              <a:rPr lang="en-IN" sz="2000" dirty="0"/>
              <a:t>Enhanced </a:t>
            </a:r>
            <a:r>
              <a:rPr lang="en-IN" sz="2000" b="1" dirty="0"/>
              <a:t>pipeline reliability</a:t>
            </a:r>
            <a:r>
              <a:rPr lang="en-IN" sz="2000" dirty="0"/>
              <a:t> with automated monitoring, Slack alerts, and Pytest validation.</a:t>
            </a:r>
          </a:p>
        </p:txBody>
      </p:sp>
    </p:spTree>
    <p:extLst>
      <p:ext uri="{BB962C8B-B14F-4D97-AF65-F5344CB8AC3E}">
        <p14:creationId xmlns:p14="http://schemas.microsoft.com/office/powerpoint/2010/main" val="3438115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7E48A-35D7-9B93-D52F-3DE7B76A2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0244" y="2713249"/>
            <a:ext cx="484925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5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2587859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797</TotalTime>
  <Words>599</Words>
  <Application>Microsoft Office PowerPoint</Application>
  <PresentationFormat>Widescreen</PresentationFormat>
  <Paragraphs>70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Trebuchet MS</vt:lpstr>
      <vt:lpstr>Wingdings 3</vt:lpstr>
      <vt:lpstr>Facet</vt:lpstr>
      <vt:lpstr>Credit Risk Assessment Pipeline: Real-Time Credit Data Processing &amp; Risk Analytics using Azure &amp; Databricks</vt:lpstr>
      <vt:lpstr>Project Overview &amp; Objectives</vt:lpstr>
      <vt:lpstr>Problem Statement</vt:lpstr>
      <vt:lpstr>Technology Stack</vt:lpstr>
      <vt:lpstr>Design Solutions for building Pipelines</vt:lpstr>
      <vt:lpstr>Lakehouse Architecture (High - Level Design)</vt:lpstr>
      <vt:lpstr>Low-Level Design</vt:lpstr>
      <vt:lpstr>Credit Risk Analytics(Star Schema)</vt:lpstr>
      <vt:lpstr>Data Quality &amp; Error Handling</vt:lpstr>
      <vt:lpstr>Pipeline Orchestration(Airflow DAG)</vt:lpstr>
      <vt:lpstr>Alerts &amp; Monitoring (Slack Integration)</vt:lpstr>
      <vt:lpstr>Dashboards</vt:lpstr>
      <vt:lpstr>PowerPoint Presentation</vt:lpstr>
      <vt:lpstr>PowerPoint Presentation</vt:lpstr>
      <vt:lpstr>PowerPoint Presentation</vt:lpstr>
      <vt:lpstr>Business Insights &amp; Outcomes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Anumandla Supriya</dc:creator>
  <cp:lastModifiedBy>Bellamkonda Naga pavan kumar</cp:lastModifiedBy>
  <cp:revision>8</cp:revision>
  <dcterms:created xsi:type="dcterms:W3CDTF">2026-03-18T17:07:08Z</dcterms:created>
  <dcterms:modified xsi:type="dcterms:W3CDTF">2026-09-07T11:22:18Z</dcterms:modified>
</cp:coreProperties>
</file>